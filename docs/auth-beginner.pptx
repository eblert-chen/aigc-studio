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a:ea="Microsoft YaHei">
                <a:solidFill>
                  <a:srgbClr val="B8551D"/>
                </a:solidFill>
                <a:latin typeface="Microsoft YaHei"/>
              </a:rPr>
              <a:t>AI 视频平台 · 安全架构科普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 a:ea="Microsoft YaHei">
                <a:solidFill>
                  <a:srgbClr val="FFFFFF"/>
                </a:solidFill>
                <a:latin typeface="Microsoft YaHei"/>
              </a:rPr>
              <a:t>零基础读懂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 a:ea="Microsoft YaHei">
                <a:solidFill>
                  <a:srgbClr val="FFFFFF"/>
                </a:solidFill>
                <a:latin typeface="Microsoft YaHei"/>
              </a:rPr>
              <a:t>项目登录系统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a:ea="Microsoft YaHei">
                <a:solidFill>
                  <a:srgbClr val="CFD6DE"/>
                </a:solidFill>
                <a:latin typeface="Microsoft YaHei"/>
              </a:rPr>
              <a:t>OIDC + JWT + Session 三件套，到底各自管什么？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ea="Microsoft YaHei">
                <a:solidFill>
                  <a:srgbClr val="9AA4B0"/>
                </a:solidFill>
                <a:latin typeface="Microsoft YaHei"/>
              </a:rPr>
              <a:t>每个名词都配大白话解释 · 附酒店类比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先说人话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登录，到底在解决什么问题？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a:ea="Microsoft YaHei">
                <a:solidFill>
                  <a:srgbClr val="232B36"/>
                </a:solidFill>
                <a:latin typeface="Microsoft YaHei"/>
              </a:rPr>
              <a:t>一个系统每天要回答三个问题——登录系统专门负责前两个。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611880" cy="2377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611880" cy="64008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a:ea="Microsoft YaHei">
                <a:solidFill>
                  <a:srgbClr val="FFFFFF"/>
                </a:solidFill>
                <a:latin typeface="Microsoft YaHei"/>
              </a:rPr>
              <a:t>① 你是谁？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546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a:ea="Microsoft YaHei">
                <a:solidFill>
                  <a:srgbClr val="232B36"/>
                </a:solidFill>
                <a:latin typeface="Microsoft YaHei"/>
              </a:rPr>
              <a:t>确认身份，确保不是别人冒充你。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3611880" cy="2377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611880" cy="640080"/>
          </a:xfrm>
          <a:prstGeom prst="rect">
            <a:avLst/>
          </a:prstGeom>
          <a:solidFill>
            <a:srgbClr val="33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395728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a:ea="Microsoft YaHei">
                <a:solidFill>
                  <a:srgbClr val="FFFFFF"/>
                </a:solidFill>
                <a:latin typeface="Microsoft YaHei"/>
              </a:rPr>
              <a:t>② 你已进来吗？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54680"/>
            <a:ext cx="31546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a:ea="Microsoft YaHei">
                <a:solidFill>
                  <a:srgbClr val="232B36"/>
                </a:solidFill>
                <a:latin typeface="Microsoft YaHei"/>
              </a:rPr>
              <a:t>记住登录状态，别让你每点一下都重输密码。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286000"/>
            <a:ext cx="3611880" cy="2377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286000"/>
            <a:ext cx="3611880" cy="640080"/>
          </a:xfrm>
          <a:prstGeom prst="rect">
            <a:avLst/>
          </a:prstGeom>
          <a:solidFill>
            <a:srgbClr val="5B6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a:ea="Microsoft YaHei">
                <a:solidFill>
                  <a:srgbClr val="FFFFFF"/>
                </a:solidFill>
                <a:latin typeface="Microsoft YaHei"/>
              </a:rPr>
              <a:t>③ 你能做吗？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31546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a:ea="Microsoft YaHei">
                <a:solidFill>
                  <a:srgbClr val="232B36"/>
                </a:solidFill>
                <a:latin typeface="Microsoft YaHei"/>
              </a:rPr>
              <a:t>权限检查（这是另一套系统管的事）。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a:ea="Microsoft YaHei">
                <a:solidFill>
                  <a:srgbClr val="5B6673"/>
                </a:solidFill>
                <a:latin typeface="Microsoft YaHei"/>
              </a:rPr>
              <a:t>记住一句话：认证 = 你是谁；授权 = 你能干啥。本项目登录只管前两件，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a:ea="Microsoft YaHei">
                <a:solidFill>
                  <a:srgbClr val="5B6673"/>
                </a:solidFill>
                <a:latin typeface="Microsoft YaHei"/>
              </a:rPr>
              <a:t>“你能干啥”由权限系统另外管。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名词小词典（上）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先认识这几个“主角”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3291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认证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399032"/>
            <a:ext cx="7498079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证明“你真的是你” —— 酒店前台核身份证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91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授权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965960"/>
            <a:ext cx="7498079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确认“你能做某件事” —— 房卡只能开你自己的门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59736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32888"/>
            <a:ext cx="3291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身份提供商 IdP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532888"/>
            <a:ext cx="7498079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专门负责“证明你是谁”的外部机构 —— 公安局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99816"/>
            <a:ext cx="3291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OIDC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099816"/>
            <a:ext cx="7498079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在 OAuth2 上叠了一层“你是谁”的协议 —— 标准办入住流程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93592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66744"/>
            <a:ext cx="3291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OAuth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666744"/>
            <a:ext cx="7498079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“授权”标准，负责把登录安全地跑完 —— 核验+发卡步骤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2"/>
            <a:ext cx="3291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233672"/>
            <a:ext cx="7498079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一段被签名、防篡改的文字证明 —— 带防伪的身份证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27448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3291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ID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800600"/>
            <a:ext cx="7498079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IdP 用 JWT 开的“这是某某人”证明 —— 防伪身份证明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67528"/>
            <a:ext cx="32918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JWKS / RS256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367528"/>
            <a:ext cx="7498079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IdP 公开的公钥清单 / 签名算法 —— 验伪设备+印章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名词小词典（下）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再认识这几个“配角”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3474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Session 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399032"/>
            <a:ext cx="7315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登录后服务器记住“你已登录”的记录 —— 房卡+后台登记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474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Cookie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965960"/>
            <a:ext cx="7315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浏览器自动保存、访问时自动带上的小数据 —— 随身房卡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59736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32888"/>
            <a:ext cx="3474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HttpOnly / 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532888"/>
            <a:ext cx="7315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脚本读不到 / 只在加密连接发 —— 贴身口袋+安全通道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99816"/>
            <a:ext cx="3474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SameSite / __Host-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099816"/>
            <a:ext cx="7315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限同站使用 / 仅主域可设 —— 只在本酒店刷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93592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66744"/>
            <a:ext cx="3474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CSRF / CSRF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66744"/>
            <a:ext cx="7315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跨站冒用攻击 / 写操作暗号 —— 开门还要对暗语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2"/>
            <a:ext cx="3474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PKCE / nonce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233672"/>
            <a:ext cx="7315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登录谜面+答案 / 一次性水印 —— 防偷码+防重用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27448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3474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WebAuthn / passkey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800600"/>
            <a:ext cx="7315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指纹人脸或物理密钥登录 —— 刷脸开门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67528"/>
            <a:ext cx="3474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amr / step-up / 吊销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367528"/>
            <a:ext cx="7315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登录方式记录 / 危险操作再验 / 凭证立失效 —— 登记+金库+挂失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核心类比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把登录想成：住酒店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64592" cy="123444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91056"/>
            <a:ext cx="320040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a:ea="Microsoft YaHei">
                <a:solidFill>
                  <a:srgbClr val="B8551D"/>
                </a:solidFill>
                <a:latin typeface="Microsoft YaHei"/>
              </a:rPr>
              <a:t>OIDC / OAuth2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5B6673"/>
                </a:solidFill>
                <a:latin typeface="Microsoft YaHei"/>
              </a:rPr>
              <a:t>前台核验身份的流程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91056"/>
            <a:ext cx="713232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a:ea="Microsoft YaHei">
                <a:solidFill>
                  <a:srgbClr val="232B36"/>
                </a:solidFill>
                <a:latin typeface="Microsoft YaHei"/>
              </a:rPr>
              <a:t>让你出示身份证、走完入住手续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62072"/>
            <a:ext cx="1115568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62072"/>
            <a:ext cx="164592" cy="1234440"/>
          </a:xfrm>
          <a:prstGeom prst="rect">
            <a:avLst/>
          </a:prstGeom>
          <a:solidFill>
            <a:srgbClr val="33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0088"/>
            <a:ext cx="320040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a:ea="Microsoft YaHei">
                <a:solidFill>
                  <a:srgbClr val="333D4D"/>
                </a:solidFill>
                <a:latin typeface="Microsoft YaHei"/>
              </a:rPr>
              <a:t>JWT（ID Token）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5B6673"/>
                </a:solidFill>
                <a:latin typeface="Microsoft YaHei"/>
              </a:rPr>
              <a:t>身份证本身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90088"/>
            <a:ext cx="713232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a:ea="Microsoft YaHei">
                <a:solidFill>
                  <a:srgbClr val="232B36"/>
                </a:solidFill>
                <a:latin typeface="Microsoft YaHei"/>
              </a:rPr>
              <a:t>公安局开出的、带防伪签名的“你是谁”证明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61104"/>
            <a:ext cx="1115568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261104"/>
            <a:ext cx="164592" cy="123444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320040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a:ea="Microsoft YaHei">
                <a:solidFill>
                  <a:srgbClr val="2E7D53"/>
                </a:solidFill>
                <a:latin typeface="Microsoft YaHei"/>
              </a:rPr>
              <a:t>Platform Session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5B6673"/>
                </a:solidFill>
                <a:latin typeface="Microsoft YaHei"/>
              </a:rPr>
              <a:t>酒店发的房卡 + 后台登记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389120"/>
            <a:ext cx="713232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a:ea="Microsoft YaHei">
                <a:solidFill>
                  <a:srgbClr val="232B36"/>
                </a:solidFill>
                <a:latin typeface="Microsoft YaHei"/>
              </a:rPr>
              <a:t>确认你住店后给你卡，之后开门刷这张卡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solidFill>
            <a:srgbClr val="F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96128"/>
            <a:ext cx="107899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a:ea="Microsoft YaHei">
                <a:solidFill>
                  <a:srgbClr val="B8551D"/>
                </a:solidFill>
                <a:latin typeface="Microsoft YaHei"/>
              </a:rPr>
              <a:t>关键句：你不会每次开门都重新出示身份证；用户也不会每次调用平台都重新登录。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完整流程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一次登录，经历了什么？（按时间）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" y="1417320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1472184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你点“登录” → 浏览器告诉平台：我要登录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" y="2350008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2404872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平台把你转向 IdP，记下 state（防掉包）和 nonce（防重用）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82696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82696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" y="3282696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2" y="3337560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你在 IdP 登录（输密码或刷脸）—— 平台完全不碰你的密码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15384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15384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4215384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4270248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IdP 把你转回平台，附带一个“授权码”code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14807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848" y="5148072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2" y="5202936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平台拿 code 去换 ID Token（JWT 格式，RS256 签名）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0568" y="1417320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1472184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平台验 ID Token：用 JWKS 公钥核对签名、iss、aud、nonce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350008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35000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30568" y="2350008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2404872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平台创建 Session：数据库写“已登录”记录（只存摘要，不存原文）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282696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282696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30568" y="3282696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76872" y="3337560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平台把房卡交给浏览器：写入安全 Cookie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215384"/>
            <a:ext cx="457200" cy="4572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215384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0568" y="4215384"/>
            <a:ext cx="50749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6872" y="4270248"/>
            <a:ext cx="48463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之后每次操作，浏览器自动带 Cookie，平台查库确认有效就放行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a:ea="Microsoft YaHei">
                <a:solidFill>
                  <a:srgbClr val="B8551D"/>
                </a:solidFill>
                <a:latin typeface="Microsoft YaHei"/>
              </a:rPr>
              <a:t>注意第 5–7 步：JWT 验完即弃，浏览器手里只有房卡（Session Cookie），没有长期 JWT。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为什么不是一种？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只用其中一种，会怎样？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61188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1188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6118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只用 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15468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签发后在过期前一直有效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“退出全部设备”旧 JWT 可能还能用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要立即吊销就得建黑名单 → 又变回 Session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放 localStorage 易被 XSS 偷走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1188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11880" cy="548640"/>
          </a:xfrm>
          <a:prstGeom prst="rect">
            <a:avLst/>
          </a:prstGeom>
          <a:solidFill>
            <a:srgbClr val="33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36118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只用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15468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平台得自建完整身份系统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自己管密码加密/找回/邮箱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自己管 MFA/WebAuthn/企业 SSO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密钥轮换、异常防护…安全责任巨大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3611880" cy="42976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3611880" cy="54864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463040"/>
            <a:ext cx="36118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只用 OIDC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15468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浏览器要保存 IdP Token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与 IdP 生命周期强耦合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难独立管理设备/权限变更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•  平台全局停用，IdP Token 可能仍有效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组合的好处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三件套一起，同时拿到这些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1732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企业统一登录（SSO）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1732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WebAuthn / passkey 强认证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41732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JWT / JWKS 签名验证（防伪）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46888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46888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浏览器不保存 IdP Token（XSS 偷不到）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46888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46888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46888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当前设备立即退出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246888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246888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246888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全部设备立即退出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52044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52044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2044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平台全局停用立即生效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52044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52044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52044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独立的空闲 + 绝对有效期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52044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52044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352044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高风险操作要求重新认证 (step-up)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72000"/>
            <a:ext cx="3611880" cy="868680"/>
          </a:xfrm>
          <a:prstGeom prst="rect">
            <a:avLst/>
          </a:prstGeom>
          <a:solidFill>
            <a:srgbClr val="F6ECE4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572000"/>
            <a:ext cx="109728" cy="868680"/>
          </a:xfrm>
          <a:prstGeom prst="rect">
            <a:avLst/>
          </a:prstGeom>
          <a:solidFill>
            <a:srgbClr val="2E7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4572000"/>
            <a:ext cx="32461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32B36"/>
                </a:solidFill>
                <a:latin typeface="Microsoft YaHei"/>
              </a:rPr>
              <a:t>前端无法靠改用户 ID 冒充别人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后台在偷偷干啥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登录后，每次请求被查 8 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26464"/>
            <a:ext cx="457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26464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房卡在不在？ —— Cookie 里的 Session Token 有吗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457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9339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房卡是真的吗？ —— 数据库里有对应摘要记录吗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05456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457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60320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这张卡挂失了吗？ —— Session 是否被撤销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457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27248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人还在吗？ —— 用户账号是否仍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39312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94176"/>
            <a:ext cx="457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694176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版本对吗？ —— auth_version 匹配（改密/权限后旧卡失效）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61104"/>
            <a:ext cx="457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61104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过期了吗？ —— 绝对有效期 + 空闲有效期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73168"/>
            <a:ext cx="1115568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28032"/>
            <a:ext cx="457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82803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危险操作要再验？ —— auth_time 够新否则弹窗重登 (step-up)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457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B8551D"/>
                </a:solidFill>
                <a:latin typeface="Microsoft YaHe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394960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管理员刷脸了吗？ —— 高风险请求要求 amr 含 WebAuthn/passkey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a:ea="Microsoft YaHei">
                <a:solidFill>
                  <a:srgbClr val="2E7D53"/>
                </a:solidFill>
                <a:latin typeface="Microsoft YaHei"/>
              </a:rPr>
              <a:t>因为每次都查数据库 Session，所以“停用账号 / 退出全部设备”能立刻生效。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房卡上的防伪标签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Session Cookie 的安全属性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926080" cy="6035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7432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Secure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8183879" cy="60350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78638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只在加密连接(https)下发送，明文网络里不出现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84832"/>
            <a:ext cx="2926080" cy="6035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84832"/>
            <a:ext cx="27432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HttpOnly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084832"/>
            <a:ext cx="8183879" cy="60350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084832"/>
            <a:ext cx="78638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不能用 JavaScript 读取，防 XSS 偷走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98064"/>
            <a:ext cx="2926080" cy="6035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98064"/>
            <a:ext cx="27432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SameSite=Lax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798064"/>
            <a:ext cx="8183879" cy="60350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798064"/>
            <a:ext cx="78638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别的网站发起的请求不带它，防 CSRF 冒用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11296"/>
            <a:ext cx="2926080" cy="6035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11296"/>
            <a:ext cx="27432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Path=/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511296"/>
            <a:ext cx="8183879" cy="60350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511296"/>
            <a:ext cx="78638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全站有效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24528"/>
            <a:ext cx="2926080" cy="6035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24528"/>
            <a:ext cx="27432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__Host- 前缀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4224528"/>
            <a:ext cx="8183879" cy="60350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224528"/>
            <a:ext cx="78638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只能由主域名设置，防子域冒名下发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37760"/>
            <a:ext cx="2926080" cy="60350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37760"/>
            <a:ext cx="274320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a:ea="Microsoft YaHei">
                <a:solidFill>
                  <a:srgbClr val="FFFFFF"/>
                </a:solidFill>
                <a:latin typeface="Microsoft YaHei"/>
              </a:rPr>
              <a:t>CSRF Token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937760"/>
            <a:ext cx="8183879" cy="603504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937760"/>
            <a:ext cx="786384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a:ea="Microsoft YaHei">
                <a:solidFill>
                  <a:srgbClr val="232B36"/>
                </a:solidFill>
                <a:latin typeface="Microsoft YaHei"/>
              </a:rPr>
              <a:t>写操作随请求带暗号，平台比对一致才放行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a:ea="Microsoft YaHei">
                <a:solidFill>
                  <a:srgbClr val="B8551D"/>
                </a:solidFill>
                <a:latin typeface="Microsoft YaHei"/>
              </a:rPr>
              <a:t>想翻代码？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在你的项目里，它们对应哪里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78638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498079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ea="Microsoft YaHei">
                <a:solidFill>
                  <a:srgbClr val="232B36"/>
                </a:solidFill>
                <a:latin typeface="Microsoft YaHei"/>
              </a:rPr>
              <a:t>登录 / 回调路由（OAuth2 授权码 + PKCE 起始）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1463040"/>
            <a:ext cx="3200400" cy="73152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463040"/>
            <a:ext cx="32004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routers/authentication.py : 224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78638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7498079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ea="Microsoft YaHei">
                <a:solidFill>
                  <a:srgbClr val="232B36"/>
                </a:solidFill>
                <a:latin typeface="Microsoft YaHei"/>
              </a:rPr>
              <a:t>PKCE / nonce / 登录事务生成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2331720"/>
            <a:ext cx="3200400" cy="73152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32004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services/authentication.py : 517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78638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7498079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ea="Microsoft YaHei">
                <a:solidFill>
                  <a:srgbClr val="232B36"/>
                </a:solidFill>
                <a:latin typeface="Microsoft YaHei"/>
              </a:rPr>
              <a:t>服务端 Session 创建与验证（查摘要、查撤销）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3200400"/>
            <a:ext cx="3200400" cy="73152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200400"/>
            <a:ext cx="32004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services/authentication.py : 208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78638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7498079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ea="Microsoft YaHei">
                <a:solidFill>
                  <a:srgbClr val="232B36"/>
                </a:solidFill>
                <a:latin typeface="Microsoft YaHei"/>
              </a:rPr>
              <a:t>Session 数据模型（存摘要不存原文）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4069080"/>
            <a:ext cx="3200400" cy="73152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069080"/>
            <a:ext cx="32004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a:ea="Microsoft YaHei">
                <a:solidFill>
                  <a:srgbClr val="FFFFFF"/>
                </a:solidFill>
                <a:latin typeface="Microsoft YaHei"/>
              </a:rPr>
              <a:t>models.py : 280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94960"/>
            <a:ext cx="11155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ea="Microsoft YaHei">
                <a:solidFill>
                  <a:srgbClr val="5B6673"/>
                </a:solidFill>
                <a:latin typeface="Microsoft YaHei"/>
              </a:rPr>
              <a:t>还有一套旧的 HS256 Bearer JWT 登录入口，仅供本地开发，生产环境明确禁止启用——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ea="Microsoft YaHei">
                <a:solidFill>
                  <a:srgbClr val="5B6673"/>
                </a:solidFill>
                <a:latin typeface="Microsoft YaHei"/>
              </a:rPr>
              <a:t>它不是正式方案，别被它迷惑。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零基础读懂项目登录系统  ·  旭天 AI 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a:ea="Microsoft YaHei">
                <a:solidFill>
                  <a:srgbClr val="5B6673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0800"/>
          </a:xfrm>
          <a:prstGeom prst="rect">
            <a:avLst/>
          </a:prstGeom>
          <a:solidFill>
            <a:srgbClr val="B85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a:ea="Microsoft YaHei">
                <a:solidFill>
                  <a:srgbClr val="B8551D"/>
                </a:solidFill>
                <a:latin typeface="Microsoft YaHei"/>
              </a:rPr>
              <a:t>一句话总结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a:ea="Microsoft YaHei">
                <a:solidFill>
                  <a:srgbClr val="FFFFFF"/>
                </a:solidFill>
                <a:latin typeface="Microsoft YaHei"/>
              </a:rPr>
              <a:t>OIDC 是前台核身份证，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a:ea="Microsoft YaHei">
                <a:solidFill>
                  <a:srgbClr val="FFFFFF"/>
                </a:solidFill>
                <a:latin typeface="Microsoft YaHei"/>
              </a:rPr>
              <a:t>JWT 是那张带防伪的证明，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a:ea="Microsoft YaHei">
                <a:solidFill>
                  <a:srgbClr val="FFFFFF"/>
                </a:solidFill>
                <a:latin typeface="Microsoft YaHei"/>
              </a:rPr>
              <a:t>Session 是酒店发给你的房卡。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156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a:ea="Microsoft YaHei">
                <a:solidFill>
                  <a:srgbClr val="CFD6DE"/>
                </a:solidFill>
                <a:latin typeface="Microsoft YaHei"/>
              </a:rPr>
              <a:t>三者不是重复建设，而是前后衔接：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a:ea="Microsoft YaHei">
                <a:solidFill>
                  <a:srgbClr val="CFD6DE"/>
                </a:solidFill>
                <a:latin typeface="Microsoft YaHei"/>
              </a:rPr>
              <a:t>IdP 只出现在登录边界，验完身份，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a:ea="Microsoft YaHei">
                <a:solidFill>
                  <a:srgbClr val="CFD6DE"/>
                </a:solidFill>
                <a:latin typeface="Microsoft YaHei"/>
              </a:rPr>
              <a:t>平台用自己的房卡（Session）管你之后的每一次访问。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a:ea="Microsoft YaHei">
                <a:solidFill>
                  <a:srgbClr val="9AA4B0"/>
                </a:solidFill>
                <a:latin typeface="Microsoft YaHei"/>
              </a:rPr>
              <a:t>这样你既享受专业身份机构的安全，又拥有平台可控的会话管理，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a:ea="Microsoft YaHei">
                <a:solidFill>
                  <a:srgbClr val="9AA4B0"/>
                </a:solidFill>
                <a:latin typeface="Microsoft YaHei"/>
              </a:rPr>
              <a:t>还把“浏览器偷 Token”的风险压到最低。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